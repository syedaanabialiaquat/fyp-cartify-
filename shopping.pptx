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4" r:id="rId6"/>
    <p:sldId id="265" r:id="rId7"/>
    <p:sldId id="269" r:id="rId8"/>
    <p:sldId id="270" r:id="rId9"/>
    <p:sldId id="271" r:id="rId10"/>
    <p:sldId id="272" r:id="rId11"/>
    <p:sldId id="273" r:id="rId12"/>
    <p:sldId id="261" r:id="rId13"/>
    <p:sldId id="274" r:id="rId14"/>
    <p:sldId id="275" r:id="rId15"/>
    <p:sldId id="276" r:id="rId16"/>
    <p:sldId id="277" r:id="rId17"/>
    <p:sldId id="279" r:id="rId18"/>
    <p:sldId id="280" r:id="rId19"/>
    <p:sldId id="281" r:id="rId20"/>
    <p:sldId id="282" r:id="rId21"/>
    <p:sldId id="266" r:id="rId22"/>
    <p:sldId id="28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60" y="498"/>
      </p:cViewPr>
      <p:guideLst>
        <p:guide orient="horz" pos="214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0DD1C-549D-4745-9771-199764A67CA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0F4C1-BC11-4721-8733-977F867B745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generated with high confidenc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85" y="894080"/>
            <a:ext cx="4768215" cy="5106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9410" y="1165225"/>
            <a:ext cx="4213225" cy="475107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86460" y="467995"/>
            <a:ext cx="6165215" cy="595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5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SimSun-ExtB" panose="02010609060101010101" charset="-122"/>
                <a:cs typeface="Times New Roman" panose="02020603050405020304" charset="0"/>
              </a:rPr>
              <a:t>Cartify</a:t>
            </a:r>
            <a:endParaRPr lang="en-US" altLang="en-US" sz="45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SimSun-ExtB" panose="02010609060101010101" charset="-122"/>
              <a:cs typeface="Times New Roman" panose="02020603050405020304" charset="0"/>
            </a:endParaRPr>
          </a:p>
          <a:p>
            <a:r>
              <a:rPr lang="en-US" altLang="en-US" sz="2400" b="1">
                <a:solidFill>
                  <a:schemeClr val="accent6">
                    <a:lumMod val="50000"/>
                  </a:schemeClr>
                </a:solidFill>
                <a:latin typeface="SimSun-ExtB" panose="02010609060101010101" charset="-122"/>
                <a:ea typeface="SimSun-ExtB" panose="02010609060101010101" charset="-122"/>
              </a:rPr>
              <a:t>(The Smart Shopping Trolley)</a:t>
            </a:r>
            <a:endParaRPr lang="en-US" altLang="en-US" sz="2400" b="1">
              <a:solidFill>
                <a:schemeClr val="accent6">
                  <a:lumMod val="50000"/>
                </a:schemeClr>
              </a:solidFill>
              <a:latin typeface="SimSun-ExtB" panose="02010609060101010101" charset="-122"/>
              <a:ea typeface="SimSun-ExtB" panose="02010609060101010101" charset="-122"/>
            </a:endParaRPr>
          </a:p>
          <a:p>
            <a:endParaRPr lang="en-US" altLang="en-US" sz="4400" b="1">
              <a:solidFill>
                <a:schemeClr val="accent2">
                  <a:lumMod val="50000"/>
                </a:schemeClr>
              </a:solidFill>
              <a:latin typeface="SimSun-ExtB" panose="02010609060101010101" charset="-122"/>
              <a:ea typeface="SimSun-ExtB" panose="02010609060101010101" charset="-122"/>
            </a:endParaRPr>
          </a:p>
          <a:p>
            <a:endParaRPr lang="en-US" altLang="en-US" sz="4400" b="1">
              <a:solidFill>
                <a:schemeClr val="accent2">
                  <a:lumMod val="50000"/>
                </a:schemeClr>
              </a:solidFill>
              <a:latin typeface="SimSun-ExtB" panose="02010609060101010101" charset="-122"/>
              <a:ea typeface="SimSun-ExtB" panose="02010609060101010101" charset="-122"/>
            </a:endParaRPr>
          </a:p>
          <a:p>
            <a:endParaRPr lang="en-US" altLang="en-US" sz="4400" b="1">
              <a:solidFill>
                <a:schemeClr val="accent2">
                  <a:lumMod val="50000"/>
                </a:schemeClr>
              </a:solidFill>
              <a:latin typeface="SimSun-ExtB" panose="02010609060101010101" charset="-122"/>
              <a:ea typeface="SimSun-ExtB" panose="02010609060101010101" charset="-122"/>
            </a:endParaRPr>
          </a:p>
          <a:p>
            <a:endParaRPr lang="en-US" altLang="en-US" sz="4400" b="1">
              <a:solidFill>
                <a:schemeClr val="accent2">
                  <a:lumMod val="50000"/>
                </a:schemeClr>
              </a:solidFill>
              <a:latin typeface="SimSun-ExtB" panose="02010609060101010101" charset="-122"/>
              <a:ea typeface="SimSun-ExtB" panose="02010609060101010101" charset="-122"/>
            </a:endParaRPr>
          </a:p>
          <a:p>
            <a:endParaRPr lang="en-US" altLang="en-US" sz="4400" b="1">
              <a:solidFill>
                <a:schemeClr val="accent5">
                  <a:lumMod val="75000"/>
                </a:schemeClr>
              </a:solidFill>
              <a:latin typeface="SimSun-ExtB" panose="02010609060101010101" charset="-122"/>
              <a:ea typeface="SimSun-ExtB" panose="02010609060101010101" charset="-122"/>
            </a:endParaRPr>
          </a:p>
          <a:p>
            <a:pPr algn="just"/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Presented by:</a:t>
            </a:r>
            <a:r>
              <a:rPr lang="en-US" altLang="en-US" sz="200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Mahnoor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       Malikha Naveed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       Syeda Anabia Liaquat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Presented to :</a:t>
            </a:r>
            <a:r>
              <a:rPr lang="en-US" altLang="en-US" sz="2000" b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Dr. Aamir Arsalan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0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Department: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Information Technology </a:t>
            </a:r>
            <a:endParaRPr lang="en-US" altLang="en-US" sz="2000" b="1">
              <a:solidFill>
                <a:schemeClr val="accent2">
                  <a:lumMod val="50000"/>
                </a:schemeClr>
              </a:solidFill>
              <a:latin typeface="Times New Roman" panose="02020603050405020304" charset="0"/>
              <a:ea typeface="SimSun-ExtB" panose="02010609060101010101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Introduction</a:t>
            </a: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</a:t>
            </a:r>
            <a:endParaRPr lang="en-IN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100" y="1475740"/>
            <a:ext cx="8082280" cy="220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Definition:</a:t>
            </a: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Cartify is a smart shopping system designed to make shopping easier, faster, and safer. It combines smart trolley technology with a web-based system that allows customers to scan products, view their bill in real time, and move safely inside the store.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Purpose:</a:t>
            </a: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purpose of Cartify is to improve the traditional shopping process by reducing long billing lines, avoiding billing errors, and providing a modern shopping experience using technology.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Nature of the Project:</a:t>
            </a: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Cartify is a planned project with a clear start and end. It is developed to create a unique smart shopping solution that can be used in real stores and later connected with cloud systems for future expansion.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Problem </a:t>
            </a:r>
            <a:r>
              <a:rPr lang="en-US" altLang="en-US" sz="3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Description</a:t>
            </a:r>
            <a:endParaRPr lang="en-US" altLang="en-US" sz="36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63575" y="1575435"/>
            <a:ext cx="7284085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Issue:</a:t>
            </a: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Traditional shopping involves long queues, billing errors, and inefficiencies in locating and scanning products manually. Customers often waste time and face frustration during busy hours.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u="sng">
                <a:latin typeface="Times New Roman" panose="02020603050405020304" charset="0"/>
                <a:cs typeface="Times New Roman" panose="02020603050405020304" charset="0"/>
              </a:rPr>
              <a:t>Impact:</a:t>
            </a:r>
            <a:endParaRPr lang="en-US" altLang="en-US" sz="16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These issues lead to customer dissatisfaction, longer shopping times, and potential revenue loss for stores due to inefficient operations. Manual billing also increases the chances of errors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Project Defination</a:t>
            </a:r>
            <a:r>
              <a:rPr lang="en-US" altLang="en-IN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:</a:t>
            </a:r>
            <a:endParaRPr lang="en-US" altLang="en-IN" sz="3600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9255" y="1415415"/>
            <a:ext cx="8373110" cy="4895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Project Definition: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Cartify is a smart shopping system combining smart trolleys with a web-based platform to simplify shopping.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FYP Attributes</a:t>
            </a: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Unique Purpose: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Reduce queues, minimize billing errors, and provide faster.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Temporary: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Completed within two Semester 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Resources: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Trolleys, Application barcode scanners, Supabase Data Base, virsual studio ,  ESP32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Customers and Sponsors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faculty and Enduser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Uncertainty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Challenges in trolley-system integration, hardware delays, and user adaptation to new technology.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Project </a:t>
            </a:r>
            <a:r>
              <a:rPr lang="en-US" altLang="en-IN" sz="3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Constraints:</a:t>
            </a:r>
            <a:endParaRPr lang="en-US" altLang="en-IN" sz="36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08025" y="1628775"/>
            <a:ext cx="668083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Triple Constraints: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Scope: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Includes web application development and secure payment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integration.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Time: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Planned to complete the project within 6 months.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Cost: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Initial budget allocated to cover tools, hardware, software, and resources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Quality: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Ensure a reliable, secure, and user-friendly system with accurate billing and smooth trolley-web integration.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Usability: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Easy-to-use interface for both customers and store staff.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Project </a:t>
            </a:r>
            <a:r>
              <a:rPr lang="en-US" altLang="en-IN" sz="3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Stakeholder:</a:t>
            </a:r>
            <a:endParaRPr lang="en-US" altLang="en-IN" sz="36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600" b="1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43585" y="1341120"/>
            <a:ext cx="7329170" cy="5128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Internal: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Mahnoor , Malaikha  , Anabia , Sir Adnan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External: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Customer , Hardware, Software Vendor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Project Sponsor: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University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Opponents: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Traditional retail like local supermarkets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Stakeholder Management: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Identify stakeholders early.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Communicate progress regularly.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Collect feedback during testing and demos.</a:t>
            </a:r>
            <a:endParaRPr lang="en-US" altLang="en-US" sz="16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Systems Thinking &amp; Organizational Factors </a:t>
            </a:r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:</a:t>
            </a:r>
            <a:endParaRPr lang="en-US" altLang="en-IN" sz="35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IN" sz="35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5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6105" y="1990725"/>
            <a:ext cx="2442845" cy="29394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15950" y="1724660"/>
            <a:ext cx="872172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Systems Thinking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Cartify is part of a bigger smart shopping system.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Three-Sphere Model: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Business Sphere: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Helps make more sales and faster billing.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Technology Sphere: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Uses web app (React/Node.js), database, and smart trolleys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Organization Sphere: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Team roles, stakeholder coordination, and training.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Organizational Structure: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Mix of functional and project-based teams.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Organizational Culture: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Team works together, shares ideas, and communicates openly.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Life </a:t>
            </a:r>
            <a:r>
              <a:rPr lang="en-US" sz="33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Cycle</a:t>
            </a:r>
            <a:r>
              <a:rPr lang="en-US" altLang="en-IN" sz="33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IN" sz="33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8620" y="1500505"/>
            <a:ext cx="7586345" cy="5737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Phases Applied to FYP: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Initiating: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Define project, approve idea, identify stakeholders.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Planning: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Scope, schedule, cost, risk, resource planning.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Executing: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Backend &amp; frontend development, database setup, hardware setup.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Monitoring &amp; Controlling: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Track progress, testing, bug fixing.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Closing: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Final demo, documentation, lessons learned.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Approach: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Agile hybrid (short iterations, iterative testing, continuous feedback)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Knowledge </a:t>
            </a:r>
            <a:r>
              <a:rPr lang="en-US" altLang="en-IN" sz="33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Areas </a:t>
            </a:r>
            <a:r>
              <a:rPr lang="en-US" altLang="en-IN" sz="33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IN" sz="33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02640" y="1501775"/>
            <a:ext cx="7538720" cy="436816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Scope Management: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Define features like web application, smart trolley integration, and secure payment system.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Schedule Management: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Plan timeline, set milestones, and track deadlines for development, testing, and deployment.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Cost Management: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Allocate budget for hardware, software, and human resources; include a contingency plan.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Quality Management: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Ensure accurate billing, smooth trolley-app integration, and user-friendly interface.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Resource Management: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Assign tasks to developers and designers, manage software tools, and hardware resources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cont.....</a:t>
            </a:r>
            <a:r>
              <a:rPr lang="en-US" altLang="en-IN" sz="33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IN" sz="33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3245" y="1446530"/>
            <a:ext cx="7527925" cy="458152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Risk Management: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Address risks like hardware malfunctions, software bugs, and project delays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prepare mitigation plans.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Procurement Management: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Purchase smart trolleys,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scanners, servers, and other necessary hardware.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Stakeholder Management: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Provide regular demos to 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supervisior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and collect feedback for improvements.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Integration Management: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Ensure smooth integration between web application, smart trolleys, database, and payment system.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System Diagram:</a:t>
            </a:r>
            <a:endParaRPr lang="en-US" altLang="en-IN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pic>
        <p:nvPicPr>
          <p:cNvPr id="2" name="Picture 1" descr="Gemini_Generated_Image_yot4cbyot4cbyot4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1403350"/>
            <a:ext cx="8436610" cy="5020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Agile Approach</a:t>
            </a:r>
            <a:r>
              <a:rPr lang="en-US" altLang="en-IN" sz="33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IN" sz="33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36905" y="1543050"/>
            <a:ext cx="8392160" cy="4734560"/>
          </a:xfrm>
          <a:prstGeom prst="rect">
            <a:avLst/>
          </a:prstGeom>
        </p:spPr>
        <p:txBody>
          <a:bodyPr>
            <a:noAutofit/>
          </a:bodyPr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Agile Approach: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 project management method where work is done in small phases.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Planning in Phases: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Cartify is divided into planning, development, testing, and deployment phases.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Regular Monitoring: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Progress is checked after each phase to find and fix issues early.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Stakeholder Feedback: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University and users give feedback after each phase.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Flexibility:</a:t>
            </a:r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Changes in scope, time, or cost can be handled easily.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lvl="1" indent="0">
              <a:buFont typeface="Arial" panose="020B0604020202020204" pitchFamily="34" charset="0"/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Benefits: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Better control , Less risk ,On-time project completion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Risk Management:</a:t>
            </a:r>
            <a:endParaRPr lang="en-US" altLang="en-IN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78155" y="1544955"/>
            <a:ext cx="7463790" cy="440690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Technical Risk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Problems in smart trolley or web system integration.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Solution:</a:t>
            </a:r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Early testing and regular system checks.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Schedule Risk: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Project may be delayed due to development or hardware issues.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 	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Solution</a:t>
            </a:r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Clear </a:t>
            </a:r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timeline and weekly progress reviews.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Cost Risk: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Budget may increase due to extra hardware or changes.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Solution: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Fixed budget planning and cost monitoring.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Security Risk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Risk of data or payment security issues.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Solution</a:t>
            </a:r>
            <a:r>
              <a:rPr 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Use secure payment methods and data protection.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Project Success Criteria</a:t>
            </a:r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:</a:t>
            </a:r>
            <a:endParaRPr lang="en-US" altLang="en-IN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6745" y="1666240"/>
            <a:ext cx="7784465" cy="422846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Meet Scope: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Deliver a functional web-based Cartify system with smart trolley support (optional device).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Meet Time: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Complete the project within the given semester timeline.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Meet Cost: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Finish the project within the approved budget.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Achieve Objectives: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Reduce manual billing effort and ensure accurate, real-time billing.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Ensure Stakeholder Satisfaction: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Receive positive feedback from the university supervisor and users.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sz="33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Breakdown </a:t>
            </a:r>
            <a:r>
              <a:rPr lang="en-US" sz="33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Structure (WBS)</a:t>
            </a:r>
            <a:r>
              <a:rPr lang="en-US" alt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3745" y="1461770"/>
            <a:ext cx="6358255" cy="503174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Content: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Break the Cartify project into small and manageable tasks.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sz="2200" b="1">
                <a:latin typeface="Times New Roman" panose="02020603050405020304" charset="0"/>
                <a:cs typeface="Times New Roman" panose="02020603050405020304" charset="0"/>
              </a:rPr>
              <a:t>Tasks for Cartify Project: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Backend Development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Product</a:t>
            </a: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management, billing logic, and payment handling.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Frontend Development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Web interface for product scanning and real-time bill display.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atabase Setup: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Store product, user, and transaction data.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Hardware Integration: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 Smart trolley 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, wires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weeles , 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Testing &amp; Bug Fixing: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T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est system functions and fix errors.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Documentation:</a:t>
            </a:r>
            <a:r>
              <a:rPr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Prepare project report and user guides.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Gantt Chart:</a:t>
            </a:r>
            <a:endParaRPr lang="en-US" altLang="en-IN" sz="3200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3745" y="1461770"/>
            <a:ext cx="6358255" cy="503174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endParaRPr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1532890"/>
            <a:ext cx="8288655" cy="47440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59790" y="1461770"/>
            <a:ext cx="6358255" cy="503174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Content: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Defines who is Responsible, Accountable, Consulted, and Informed for each task.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Cartify Project Example: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Anabia: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(Backend Developer) Responsible for billing logic, product management, and system integration.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Malikha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(Frontend Developer )Responsible for web interface and user experience.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Anabia :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(Database Manager ) Responsible for managing product, user, and transaction data.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Mahnoor 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(Tester / Documentation Member) Responsible for testing and project documentation.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Sir Adnan: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Supervisor) Consulted for guidance and informed about project progress.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Users: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Informed about system usage and updates.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57860" y="526415"/>
            <a:ext cx="837120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RACI Matrix (Cartify </a:t>
            </a:r>
            <a:r>
              <a:rPr sz="32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Project)</a:t>
            </a:r>
            <a:endParaRPr sz="32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7995" y="526415"/>
            <a:ext cx="6581140" cy="70675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en-US" sz="32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Stakeholder Analysis Tools</a:t>
            </a:r>
            <a:endParaRPr lang="en-US" altLang="en-US" sz="32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7995" y="1467485"/>
            <a:ext cx="6644005" cy="524256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Content</a:t>
            </a: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Identify stakeholders and analyze their interest and influence on the project.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r>
              <a:rPr sz="2200" b="1">
                <a:latin typeface="Times New Roman" panose="02020603050405020304" charset="0"/>
                <a:cs typeface="Times New Roman" panose="02020603050405020304" charset="0"/>
              </a:rPr>
              <a:t>Cartify Project Example:</a:t>
            </a: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High Influence / High Interest: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Project Sponsor (University / Store Management) – directly involved in decisions.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High Influence / Low Interest: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IT Administrator – kept informed about technical setup.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b="1">
                <a:latin typeface="Times New Roman" panose="02020603050405020304" charset="0"/>
                <a:cs typeface="Times New Roman" panose="02020603050405020304" charset="0"/>
              </a:rPr>
              <a:t>Low Influence / High Interest: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Customers (Users) – receive regular updates and provide feedback.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endParaRPr sz="2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This helps decide who needs more communication and who should be kept informed for project success.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8135" y="1602105"/>
            <a:ext cx="7701280" cy="505269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Content:</a:t>
            </a: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Defines how project information is shared among team and stakeholders.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FYP Example: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Weekly team meetings for progress tracking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 updates via email/WhatsApp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sessions with users after testing each module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Explanation</a:t>
            </a:r>
            <a:r>
              <a:rPr lang="en-US" sz="16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en-US" sz="1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Ensures timely, consistent communication to avoid misunderstandings.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388620" y="526415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Communication Plan</a:t>
            </a:r>
            <a:endParaRPr lang="en-US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18135" y="526415"/>
            <a:ext cx="8507730" cy="57505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/>
            <a:r>
              <a:rPr lang="en-US" altLang="en-I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Compression:</a:t>
            </a:r>
            <a:endParaRPr lang="en-US" altLang="en-IN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algn="l"/>
            <a:r>
              <a:rPr lang="en-IN" sz="33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33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8525" y="1233032"/>
            <a:ext cx="86400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35243" y="3683373"/>
            <a:ext cx="129334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rdo" panose="02020600000000000000" pitchFamily="18" charset="-79"/>
              </a:rPr>
              <a:t>01</a:t>
            </a:r>
            <a:endParaRPr lang="en-US" sz="7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rdo" panose="02020600000000000000" pitchFamily="18" charset="-79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388620" y="1405890"/>
          <a:ext cx="8524240" cy="5057775"/>
        </p:xfrm>
        <a:graphic>
          <a:graphicData uri="http://schemas.openxmlformats.org/drawingml/2006/table">
            <a:tbl>
              <a:tblPr/>
              <a:tblGrid>
                <a:gridCol w="1580515"/>
                <a:gridCol w="956945"/>
                <a:gridCol w="941070"/>
                <a:gridCol w="1163955"/>
                <a:gridCol w="1030605"/>
                <a:gridCol w="963930"/>
                <a:gridCol w="1134110"/>
                <a:gridCol w="753110"/>
              </a:tblGrid>
              <a:tr h="1840865">
                <a:tc>
                  <a:txBody>
                    <a:bodyPr/>
                    <a:p>
                      <a:pPr marL="18161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3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18161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System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8100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192405" indent="-16510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Auto</a:t>
                      </a: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192405" indent="-16510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Follow</a:t>
                      </a: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 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8100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89535" indent="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Real-Time Billing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130810" indent="-48895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Obstacle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130810" indent="-48895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Detecti</a:t>
                      </a: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o</a:t>
                      </a: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199390" indent="-17907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Online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199390" indent="-17907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Checkou</a:t>
                      </a: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t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181610" indent="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Barcode Scanning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78105" indent="1524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Bluetooth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78105" indent="1524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User Pairing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  <a:tc>
                  <a:txBody>
                    <a:bodyPr/>
                    <a:p>
                      <a:pPr marL="20320" indent="71120" algn="just">
                        <a:lnSpc>
                          <a:spcPts val="205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Times New Roman" panose="02020603050405020304"/>
                        </a:rPr>
                        <a:t>Cloud Storage</a:t>
                      </a:r>
                      <a:endParaRPr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C9AC"/>
                    </a:solidFill>
                  </a:tcPr>
                </a:tc>
              </a:tr>
              <a:tr h="1100455">
                <a:tc>
                  <a:txBody>
                    <a:bodyPr/>
                    <a:p>
                      <a:pPr marL="21018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Traditional 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21018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Trollay 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8130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2923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749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181610" indent="0" algn="ctr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114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8765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181610" indent="22860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3975" cap="flat" cmpd="sng">
                      <a:solidFill>
                        <a:srgbClr val="FAE3D4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</a:tr>
              <a:tr h="921385">
                <a:tc>
                  <a:txBody>
                    <a:bodyPr/>
                    <a:p>
                      <a:pPr marL="21018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CalCart 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8130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2923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749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181610" indent="15240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114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8765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181610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Limited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</a:tr>
              <a:tr h="1195070">
                <a:tc>
                  <a:txBody>
                    <a:bodyPr/>
                    <a:p>
                      <a:pPr marL="21018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Cartify (proposed System)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181610" indent="0" algn="ctr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      </a:t>
                      </a: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2923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749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181610" indent="15240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114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87655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  <a:tc>
                  <a:txBody>
                    <a:bodyPr/>
                    <a:p>
                      <a:pPr marL="278130" indent="0" algn="just">
                        <a:spcBef>
                          <a:spcPts val="110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Times New Roman" panose="02020603050405020304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E3D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840105" y="2338070"/>
            <a:ext cx="7475220" cy="1005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sz="40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2" descr="A screenshot of a cell phone&#10;&#10;Description generated with high confidenc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85" y="894080"/>
            <a:ext cx="4768215" cy="51066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1*398"/>
  <p:tag name="TABLE_ENDDRAG_RECT" val="30*110*671*398"/>
</p:tagLst>
</file>

<file path=ppt/theme/theme1.xml><?xml version="1.0" encoding="utf-8"?>
<a:theme xmlns:a="http://schemas.openxmlformats.org/drawingml/2006/main" name="Office Theme">
  <a:themeElements>
    <a:clrScheme name="Multi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04FF"/>
      </a:accent1>
      <a:accent2>
        <a:srgbClr val="D60E01"/>
      </a:accent2>
      <a:accent3>
        <a:srgbClr val="800BE4"/>
      </a:accent3>
      <a:accent4>
        <a:srgbClr val="FFC323"/>
      </a:accent4>
      <a:accent5>
        <a:srgbClr val="288728"/>
      </a:accent5>
      <a:accent6>
        <a:srgbClr val="FF6600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8311</Words>
  <Application>WPS Presentation</Application>
  <PresentationFormat>On-screen Show (4:3)</PresentationFormat>
  <Paragraphs>324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3" baseType="lpstr">
      <vt:lpstr>Arial</vt:lpstr>
      <vt:lpstr>SimSun</vt:lpstr>
      <vt:lpstr>Wingdings</vt:lpstr>
      <vt:lpstr>Cambria</vt:lpstr>
      <vt:lpstr>SimSun-ExtB</vt:lpstr>
      <vt:lpstr>Times New Roman</vt:lpstr>
      <vt:lpstr>Cardo</vt:lpstr>
      <vt:lpstr>Microsoft YaHei</vt:lpstr>
      <vt:lpstr>Arial Unicode MS</vt:lpstr>
      <vt:lpstr>Calibri Light</vt:lpstr>
      <vt:lpstr>Calibri</vt:lpstr>
      <vt:lpstr>Arial</vt:lpstr>
      <vt:lpstr>Times New Roman</vt:lpstr>
      <vt:lpstr>Book Antiqua</vt:lpstr>
      <vt:lpstr>Bradley Hand ITC</vt:lpstr>
      <vt:lpstr>Pristina</vt:lpstr>
      <vt:lpstr>Bodoni MT Poster Compressed</vt:lpstr>
      <vt:lpstr>Broadway</vt:lpstr>
      <vt:lpstr>Bookman Old Style</vt:lpstr>
      <vt:lpstr>Cardo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SyedaAnabia Liaquat</cp:lastModifiedBy>
  <cp:revision>10</cp:revision>
  <dcterms:created xsi:type="dcterms:W3CDTF">2019-05-15T10:32:00Z</dcterms:created>
  <dcterms:modified xsi:type="dcterms:W3CDTF">2025-12-29T19:03:26Z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70DE8C600A0E4DFFB7D6A60B782E6566_13</vt:lpwstr>
  </property>
  <property fmtid="{D5CDD505-2E9C-101B-9397-08002B2CF9AE}" pid="3" name="KSOProductBuildVer">
    <vt:lpwstr>1033-12.2.0.23155</vt:lpwstr>
  </property>
</Properties>
</file>